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2DB350-1138-412A-A0F7-4807ADD6039F}" v="137" dt="2026-10-16T19:27:00.5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206240" cy="109728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8288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0D9488"/>
                </a:solidFill>
                <a:latin typeface="Aptos"/>
              </a:rPr>
              <a:t>OPSFLOW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25880"/>
            <a:ext cx="2971800" cy="105567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  <a:latin typeface="Aptos Display"/>
              </a:rPr>
              <a:t>Service incident</a:t>
            </a:r>
            <a:br>
              <a:rPr dirty="0"/>
            </a:br>
            <a:r>
              <a:rPr>
                <a:solidFill>
                  <a:srgbClr val="00B050"/>
                </a:solidFill>
              </a:rPr>
              <a:t>operations, made</a:t>
            </a:r>
            <a:br>
              <a:rPr dirty="0">
                <a:solidFill>
                  <a:srgbClr val="00B050"/>
                </a:solidFill>
              </a:rPr>
            </a:br>
            <a:r>
              <a:rPr>
                <a:solidFill>
                  <a:srgbClr val="00B050"/>
                </a:solidFill>
              </a:rPr>
              <a:t>clear and reliable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886200"/>
            <a:ext cx="2788920" cy="91717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400" b="0" i="0" dirty="0">
                <a:solidFill>
                  <a:srgbClr val="CBD5E1"/>
                </a:solidFill>
                <a:latin typeface="Aptos"/>
              </a:rPr>
              <a:t>A </a:t>
            </a:r>
            <a:r>
              <a:rPr lang="en-GB" sz="1400" dirty="0">
                <a:solidFill>
                  <a:srgbClr val="CBD5E1"/>
                </a:solidFill>
                <a:latin typeface="Aptos"/>
              </a:rPr>
              <a:t>simple walkthrough</a:t>
            </a:r>
            <a:r>
              <a:rPr sz="1400" b="0" i="0" dirty="0">
                <a:solidFill>
                  <a:srgbClr val="CBD5E1"/>
                </a:solidFill>
                <a:latin typeface="Aptos"/>
              </a:rPr>
              <a:t> of the application, delivery workflow, cloud validation, </a:t>
            </a:r>
            <a:r>
              <a:rPr sz="1400" b="0" i="0" dirty="0" err="1">
                <a:solidFill>
                  <a:srgbClr val="CBD5E1"/>
                </a:solidFill>
                <a:latin typeface="Aptos"/>
              </a:rPr>
              <a:t>GitOps</a:t>
            </a:r>
            <a:r>
              <a:rPr sz="1400" b="0" i="0" dirty="0">
                <a:solidFill>
                  <a:srgbClr val="CBD5E1"/>
                </a:solidFill>
                <a:latin typeface="Aptos"/>
              </a:rPr>
              <a:t>, and monitoring.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172200"/>
            <a:ext cx="237744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Aptos"/>
              </a:rPr>
              <a:t>Lavanya Soni  |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640080"/>
            <a:ext cx="320040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000" b="1" i="0">
                <a:solidFill>
                  <a:srgbClr val="0F172A"/>
                </a:solidFill>
                <a:latin typeface="Aptos"/>
              </a:rPr>
              <a:t>OpsFlow at a glance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0" y="1143000"/>
            <a:ext cx="6675120" cy="425196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0" y="1307592"/>
            <a:ext cx="10972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Aptos"/>
              </a:rPr>
              <a:t>OpsFlow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1618488"/>
            <a:ext cx="22860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Aptos"/>
              </a:rPr>
              <a:t>Incident operations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83480" y="2011680"/>
            <a:ext cx="1497330" cy="713232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93208" y="2103120"/>
            <a:ext cx="4572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93208" y="2377440"/>
            <a:ext cx="131445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Aptos"/>
              </a:rPr>
              <a:t>Open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90538" y="2011680"/>
            <a:ext cx="1497330" cy="713232"/>
          </a:xfrm>
          <a:prstGeom prst="roundRect">
            <a:avLst/>
          </a:prstGeom>
          <a:solidFill>
            <a:srgbClr val="FEF3C7"/>
          </a:solidFill>
          <a:ln w="1016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00266" y="2103120"/>
            <a:ext cx="4572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D97706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00266" y="2377440"/>
            <a:ext cx="131445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Aptos"/>
              </a:rPr>
              <a:t>Investigating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97596" y="2011680"/>
            <a:ext cx="1497330" cy="713232"/>
          </a:xfrm>
          <a:prstGeom prst="roundRect">
            <a:avLst/>
          </a:prstGeom>
          <a:solidFill>
            <a:srgbClr val="FEE2E2"/>
          </a:solidFill>
          <a:ln w="10160"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07323" y="2103120"/>
            <a:ext cx="4572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DC2626"/>
                </a:solidFill>
                <a:latin typeface="Aptos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7323" y="2377440"/>
            <a:ext cx="131445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DC2626"/>
                </a:solidFill>
                <a:latin typeface="Aptos"/>
              </a:rPr>
              <a:t>Critical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04654" y="2011680"/>
            <a:ext cx="1497330" cy="713232"/>
          </a:xfrm>
          <a:prstGeom prst="roundRect">
            <a:avLst/>
          </a:prstGeom>
          <a:solidFill>
            <a:srgbClr val="DCFCE7"/>
          </a:solidFill>
          <a:ln w="1016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914382" y="2103120"/>
            <a:ext cx="4572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16A34A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14382" y="2377440"/>
            <a:ext cx="131445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16A34A"/>
                </a:solidFill>
                <a:latin typeface="Aptos"/>
              </a:rPr>
              <a:t>Resolved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2926080"/>
            <a:ext cx="1920240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Aptos"/>
              </a:rPr>
              <a:t>Recent incidents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3291840"/>
            <a:ext cx="118872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  <a:latin typeface="Aptos"/>
              </a:rPr>
              <a:t>Service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3291840"/>
            <a:ext cx="118872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  <a:latin typeface="Aptos"/>
              </a:rPr>
              <a:t>Status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3291840"/>
            <a:ext cx="118872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  <a:latin typeface="Aptos"/>
              </a:rPr>
              <a:t>Owner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983480" y="3593592"/>
            <a:ext cx="6309359" cy="438912"/>
          </a:xfrm>
          <a:prstGeom prst="roundRect">
            <a:avLst/>
          </a:prstGeom>
          <a:solidFill>
            <a:srgbClr val="FCFCFD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120640" y="3712464"/>
            <a:ext cx="182880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Aptos"/>
              </a:rPr>
              <a:t>Checkout API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59752" y="3712464"/>
            <a:ext cx="114300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Aptos"/>
              </a:rPr>
              <a:t>Investigating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67928" y="3712464"/>
            <a:ext cx="109728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Aptos"/>
              </a:rPr>
              <a:t>Assigned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983480" y="4160520"/>
            <a:ext cx="6309359" cy="438912"/>
          </a:xfrm>
          <a:prstGeom prst="roundRect">
            <a:avLst/>
          </a:prstGeom>
          <a:solidFill>
            <a:srgbClr val="FCFCFD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120640" y="4279392"/>
            <a:ext cx="182880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Aptos"/>
              </a:rPr>
              <a:t>Auth service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59752" y="4279392"/>
            <a:ext cx="114300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Aptos"/>
              </a:rPr>
              <a:t>Open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67928" y="4279392"/>
            <a:ext cx="109728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Aptos"/>
              </a:rPr>
              <a:t>Unassigned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983480" y="4727448"/>
            <a:ext cx="6309359" cy="438912"/>
          </a:xfrm>
          <a:prstGeom prst="roundRect">
            <a:avLst/>
          </a:prstGeom>
          <a:solidFill>
            <a:srgbClr val="FCFCFD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120640" y="4846320"/>
            <a:ext cx="182880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Aptos"/>
              </a:rPr>
              <a:t>Notifications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59752" y="4846320"/>
            <a:ext cx="114300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16A34A"/>
                </a:solidFill>
                <a:latin typeface="Aptos"/>
              </a:rPr>
              <a:t>Resolved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67928" y="4846320"/>
            <a:ext cx="109728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Aptos"/>
              </a:rPr>
              <a:t>Assigned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902952" y="1307592"/>
            <a:ext cx="1325880" cy="310896"/>
          </a:xfrm>
          <a:prstGeom prst="roundRect">
            <a:avLst/>
          </a:prstGeom>
          <a:solidFill>
            <a:srgbClr val="CCFBF1"/>
          </a:solidFill>
          <a:ln w="10160"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902952" y="1325880"/>
            <a:ext cx="1325880" cy="23774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00" b="1" i="0">
                <a:solidFill>
                  <a:srgbClr val="0D9488"/>
                </a:solidFill>
                <a:latin typeface="Aptos"/>
              </a:rPr>
              <a:t>CREATE INCIDENT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646920" y="5806440"/>
            <a:ext cx="1600200" cy="310896"/>
          </a:xfrm>
          <a:prstGeom prst="roundRect">
            <a:avLst/>
          </a:prstGeom>
          <a:solidFill>
            <a:srgbClr val="CCFBF1"/>
          </a:solidFill>
          <a:ln w="10160"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646920" y="5824727"/>
            <a:ext cx="1600200" cy="23774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00" b="1" i="0">
                <a:solidFill>
                  <a:srgbClr val="0D9488"/>
                </a:solidFill>
                <a:latin typeface="Aptos"/>
              </a:rPr>
              <a:t>RUNNING APPLICATION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00600" y="5833872"/>
            <a:ext cx="44805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Aptos"/>
              </a:rPr>
              <a:t>Track incidents • coordinate owners • monitor service health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256032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Aptos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03504"/>
            <a:ext cx="1097280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Aptos Display"/>
              </a:rPr>
              <a:t>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115568"/>
            <a:ext cx="1078992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Aptos"/>
              </a:rPr>
              <a:t>A single place to track service problems and the engineering workflow that keeps the platform dependable.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402336"/>
            <a:ext cx="32004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9672"/>
            <a:ext cx="109728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  <a:latin typeface="Aptos"/>
              </a:rPr>
              <a:t>OpsFlow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82528" y="6519672"/>
            <a:ext cx="54864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329184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1691640"/>
            <a:ext cx="73152" cy="132588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7" y="1856232"/>
            <a:ext cx="297180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Aptos"/>
              </a:rPr>
              <a:t>The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2176272"/>
            <a:ext cx="2971800" cy="70408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Aptos"/>
              </a:rPr>
              <a:t>Operational incidents become expensive when status, ownership, and service health are scattered across tools and conversations.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246120"/>
            <a:ext cx="329184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3246120"/>
            <a:ext cx="73152" cy="132588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7" y="3410712"/>
            <a:ext cx="297180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Aptos"/>
              </a:rPr>
              <a:t>The 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3730752"/>
            <a:ext cx="2971800" cy="70408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Aptos"/>
              </a:rPr>
              <a:t>OpsFlow brings incident tracking, clear ownership, health checks, and operational visibility into one application.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800600"/>
            <a:ext cx="329184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4800600"/>
            <a:ext cx="73152" cy="10972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7" y="4965192"/>
            <a:ext cx="297180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Aptos"/>
              </a:rPr>
              <a:t>Why it matters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" y="5285232"/>
            <a:ext cx="2971800" cy="47548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Aptos"/>
              </a:rPr>
              <a:t>Faster coordination, safer releases, repeatable deployment, and clearer evidence when something goes wrong.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1700784"/>
            <a:ext cx="31089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Aptos"/>
              </a:rPr>
              <a:t>What a user can do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2176272"/>
            <a:ext cx="438912" cy="438912"/>
          </a:xfrm>
          <a:prstGeom prst="round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34840" y="2240279"/>
            <a:ext cx="438912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2157984"/>
            <a:ext cx="14173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Aptos"/>
              </a:rPr>
              <a:t>Create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4920" y="2450591"/>
            <a:ext cx="24688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Aptos"/>
              </a:rPr>
              <a:t>Log a service incident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654296" y="2651760"/>
            <a:ext cx="0" cy="356616"/>
          </a:xfrm>
          <a:prstGeom prst="line">
            <a:avLst/>
          </a:prstGeom>
          <a:ln w="254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4434840" y="3090672"/>
            <a:ext cx="438912" cy="438912"/>
          </a:xfrm>
          <a:prstGeom prst="roundRect">
            <a:avLst/>
          </a:prstGeom>
          <a:solidFill>
            <a:srgbClr val="0D9488"/>
          </a:solidFill>
          <a:ln w="1016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434840" y="3154679"/>
            <a:ext cx="438912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3072384"/>
            <a:ext cx="14173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Aptos"/>
              </a:rPr>
              <a:t>Assign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74920" y="3364991"/>
            <a:ext cx="24688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Aptos"/>
              </a:rPr>
              <a:t>Make ownership visible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654296" y="3566160"/>
            <a:ext cx="0" cy="356616"/>
          </a:xfrm>
          <a:prstGeom prst="line">
            <a:avLst/>
          </a:prstGeom>
          <a:ln w="254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4434840" y="4005072"/>
            <a:ext cx="438912" cy="438912"/>
          </a:xfrm>
          <a:prstGeom prst="roundRect">
            <a:avLst/>
          </a:prstGeom>
          <a:solidFill>
            <a:srgbClr val="D97706"/>
          </a:solidFill>
          <a:ln w="1016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434840" y="4069080"/>
            <a:ext cx="438912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74920" y="3986784"/>
            <a:ext cx="14173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Aptos"/>
              </a:rPr>
              <a:t>Investigate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74920" y="4279392"/>
            <a:ext cx="24688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Aptos"/>
              </a:rPr>
              <a:t>Track progress and severity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654296" y="4480560"/>
            <a:ext cx="0" cy="356616"/>
          </a:xfrm>
          <a:prstGeom prst="line">
            <a:avLst/>
          </a:prstGeom>
          <a:ln w="254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4434840" y="4919472"/>
            <a:ext cx="438912" cy="438912"/>
          </a:xfrm>
          <a:prstGeom prst="roundRect">
            <a:avLst/>
          </a:prstGeom>
          <a:solidFill>
            <a:srgbClr val="16A34A"/>
          </a:solidFill>
          <a:ln w="1016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434840" y="4983480"/>
            <a:ext cx="438912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74920" y="4901184"/>
            <a:ext cx="14173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Aptos"/>
              </a:rPr>
              <a:t>Resolve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74920" y="5193792"/>
            <a:ext cx="24688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Aptos"/>
              </a:rPr>
              <a:t>Close with a clear status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01000" y="1828800"/>
            <a:ext cx="3520440" cy="3886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275320" y="2121408"/>
            <a:ext cx="28803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Aptos"/>
              </a:rPr>
              <a:t>Built beyond the UI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75320" y="2697480"/>
            <a:ext cx="164592" cy="164592"/>
          </a:xfrm>
          <a:prstGeom prst="round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613648" y="2660904"/>
            <a:ext cx="22860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Aptos"/>
              </a:rPr>
              <a:t>Quality checks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13648" y="2862072"/>
            <a:ext cx="25146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Aptos"/>
              </a:rPr>
              <a:t>36 automated API tests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275320" y="3392424"/>
            <a:ext cx="164592" cy="164592"/>
          </a:xfrm>
          <a:prstGeom prst="roundRect">
            <a:avLst/>
          </a:prstGeom>
          <a:solidFill>
            <a:srgbClr val="DC2626"/>
          </a:solidFill>
          <a:ln w="1016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613648" y="3355848"/>
            <a:ext cx="22860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Aptos"/>
              </a:rPr>
              <a:t>Security gate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13648" y="3557016"/>
            <a:ext cx="25146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Aptos"/>
              </a:rPr>
              <a:t>Serious image vulnerabilities block release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275320" y="4087368"/>
            <a:ext cx="164592" cy="164592"/>
          </a:xfrm>
          <a:prstGeom prst="roundRect">
            <a:avLst/>
          </a:prstGeom>
          <a:solidFill>
            <a:srgbClr val="D97706"/>
          </a:solidFill>
          <a:ln w="1016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613648" y="4050792"/>
            <a:ext cx="22860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Aptos"/>
              </a:rPr>
              <a:t>Cloud proof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13648" y="4251960"/>
            <a:ext cx="25146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Aptos"/>
              </a:rPr>
              <a:t>Validated on AWS EKS, then destroyed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275320" y="4782312"/>
            <a:ext cx="164592" cy="164592"/>
          </a:xfrm>
          <a:prstGeom prst="roundRect">
            <a:avLst/>
          </a:prstGeom>
          <a:solidFill>
            <a:srgbClr val="0D9488"/>
          </a:solidFill>
          <a:ln w="1016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613648" y="4745736"/>
            <a:ext cx="22860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Aptos"/>
              </a:rPr>
              <a:t>Operational insight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13648" y="4946904"/>
            <a:ext cx="25146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Aptos"/>
              </a:rPr>
              <a:t>Prometheus + Grafana show health and traffic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256032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Aptos"/>
              </a:rPr>
              <a:t>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03504"/>
            <a:ext cx="1097280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Aptos Display"/>
              </a:rPr>
              <a:t>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115568"/>
            <a:ext cx="1078992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Aptos"/>
              </a:rPr>
              <a:t>Each tool has one clear job in the overall system.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402336"/>
            <a:ext cx="32004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9672"/>
            <a:ext cx="109728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  <a:latin typeface="Aptos"/>
              </a:rPr>
              <a:t>OpsFlow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82528" y="6519672"/>
            <a:ext cx="54864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55648"/>
            <a:ext cx="2578608" cy="16642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58368" y="1755648"/>
            <a:ext cx="2578608" cy="1097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7" y="1984248"/>
            <a:ext cx="2212848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Aptos"/>
              </a:rPr>
              <a:t>User experience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2286000"/>
            <a:ext cx="2212848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Aptos"/>
              </a:rPr>
              <a:t>React + Vite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2688336"/>
            <a:ext cx="2212848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Aptos"/>
              </a:rPr>
              <a:t>Browser dashboard for incident work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11296" y="1755648"/>
            <a:ext cx="2578608" cy="16642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511296" y="1755648"/>
            <a:ext cx="2578608" cy="109728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94176" y="1984248"/>
            <a:ext cx="2212848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Aptos"/>
              </a:rPr>
              <a:t>Application logic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94176" y="2286000"/>
            <a:ext cx="2212848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Aptos"/>
              </a:rPr>
              <a:t>FastAPI + SQLAlchemy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94176" y="2688336"/>
            <a:ext cx="2212848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Aptos"/>
              </a:rPr>
              <a:t>API rules, validation, health and metrics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64224" y="1755648"/>
            <a:ext cx="2578608" cy="16642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364224" y="1755648"/>
            <a:ext cx="2578608" cy="109728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47104" y="1984248"/>
            <a:ext cx="2212848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Aptos"/>
              </a:rPr>
              <a:t>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47104" y="2286000"/>
            <a:ext cx="2212848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Aptos"/>
              </a:rPr>
              <a:t>PostgreSQL + Alembic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47104" y="2688336"/>
            <a:ext cx="2212848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Aptos"/>
              </a:rPr>
              <a:t>Incident storage and controlled schema changes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17152" y="1755648"/>
            <a:ext cx="2578608" cy="16642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217152" y="1755648"/>
            <a:ext cx="2578608" cy="109728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400032" y="1984248"/>
            <a:ext cx="2212848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Aptos"/>
              </a:rPr>
              <a:t>Containers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00032" y="2286000"/>
            <a:ext cx="2212848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Aptos"/>
              </a:rPr>
              <a:t>Docker + Nginx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2688336"/>
            <a:ext cx="2212848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Aptos"/>
              </a:rPr>
              <a:t>Consistent packaging from laptop to cluster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3840479"/>
            <a:ext cx="2578608" cy="16642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58368" y="3840479"/>
            <a:ext cx="2578608" cy="109728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1247" y="4069079"/>
            <a:ext cx="2212848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Aptos"/>
              </a:rPr>
              <a:t>Delivery &amp; security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7" y="4370831"/>
            <a:ext cx="2212848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Aptos"/>
              </a:rPr>
              <a:t>GitHub Actions + Trivy + GHCR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7" y="4773167"/>
            <a:ext cx="2212848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Aptos"/>
              </a:rPr>
              <a:t>Tests, image builds, vulnerability gate and registry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511296" y="3840479"/>
            <a:ext cx="2578608" cy="16642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511296" y="3840479"/>
            <a:ext cx="2578608" cy="109728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694176" y="4069079"/>
            <a:ext cx="2212848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Aptos"/>
              </a:rPr>
              <a:t>Orchestration &amp; GitOps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94176" y="4370831"/>
            <a:ext cx="2212848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Aptos"/>
              </a:rPr>
              <a:t>Kubernetes + Helm + ArgoCD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94176" y="4773167"/>
            <a:ext cx="2212848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Aptos"/>
              </a:rPr>
              <a:t>Keep the desired deployment aligned with Git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64224" y="3840479"/>
            <a:ext cx="2578608" cy="16642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364224" y="3840479"/>
            <a:ext cx="2578608" cy="1097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547104" y="4069079"/>
            <a:ext cx="2212848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Aptos"/>
              </a:rPr>
              <a:t>Cloud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47104" y="4370831"/>
            <a:ext cx="2212848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Aptos"/>
              </a:rPr>
              <a:t>Terraform + AWS EKS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47104" y="4773167"/>
            <a:ext cx="2212848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Aptos"/>
              </a:rPr>
              <a:t>Repeatable infrastructure and real cloud validation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217152" y="3840479"/>
            <a:ext cx="2578608" cy="16642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9217152" y="3840479"/>
            <a:ext cx="2578608" cy="109728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400032" y="4069079"/>
            <a:ext cx="2212848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Aptos"/>
              </a:rPr>
              <a:t>Observability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00032" y="4370831"/>
            <a:ext cx="2212848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Aptos"/>
              </a:rPr>
              <a:t>Prometheus + Grafana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00032" y="4773167"/>
            <a:ext cx="2212848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Aptos"/>
              </a:rPr>
              <a:t>See availability, traffic and application behavior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" y="6053328"/>
            <a:ext cx="10789920" cy="25545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lang="en-GB" sz="1300" b="1">
                <a:solidFill>
                  <a:srgbClr val="0F172A"/>
                </a:solidFill>
                <a:latin typeface="Aptos"/>
              </a:rPr>
              <a:t>build</a:t>
            </a:r>
            <a:r>
              <a:rPr sz="1300" b="1" i="0">
                <a:solidFill>
                  <a:srgbClr val="0F172A"/>
                </a:solidFill>
                <a:latin typeface="Aptos"/>
              </a:rPr>
              <a:t> the app → package it → check it → deploy it → keep it aligned → watch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256032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Aptos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03504"/>
            <a:ext cx="1097280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Aptos Display"/>
              </a:rPr>
              <a:t>Architecture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115568"/>
            <a:ext cx="1078992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Aptos"/>
              </a:rPr>
              <a:t>The application path is simple; the delivery path adds automation, cloud infrastructure and monitoring around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402336"/>
            <a:ext cx="32004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9672"/>
            <a:ext cx="109728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  <a:latin typeface="Aptos"/>
              </a:rPr>
              <a:t>OpsFlow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82528" y="6519672"/>
            <a:ext cx="54864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700784"/>
            <a:ext cx="18288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Aptos"/>
              </a:rPr>
              <a:t>APPLICATION PATH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084831"/>
            <a:ext cx="182880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2084831"/>
            <a:ext cx="73152" cy="10515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14173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Aptos"/>
              </a:rPr>
              <a:t>Browser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15184"/>
            <a:ext cx="1417320" cy="210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Aptos"/>
              </a:rPr>
              <a:t>Incident dashboard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42032" y="2615184"/>
            <a:ext cx="493776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108960" y="2084831"/>
            <a:ext cx="182880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108960" y="2084831"/>
            <a:ext cx="73152" cy="105156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91840" y="2286000"/>
            <a:ext cx="14173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Aptos"/>
              </a:rPr>
              <a:t>Frontend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615184"/>
            <a:ext cx="1417320" cy="210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Aptos"/>
              </a:rPr>
              <a:t>React + Nginx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965192" y="2615184"/>
            <a:ext cx="493776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532120" y="2084831"/>
            <a:ext cx="182880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532120" y="2084831"/>
            <a:ext cx="73152" cy="105156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715000" y="2286000"/>
            <a:ext cx="14173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Aptos"/>
              </a:rPr>
              <a:t>Backend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615184"/>
            <a:ext cx="1417320" cy="210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Aptos"/>
              </a:rPr>
              <a:t>FastAPI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388352" y="2615184"/>
            <a:ext cx="493775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955279" y="2084831"/>
            <a:ext cx="182880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955279" y="2084831"/>
            <a:ext cx="73152" cy="105156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38159" y="2286000"/>
            <a:ext cx="14173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Aptos"/>
              </a:rPr>
              <a:t>Database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59" y="2615184"/>
            <a:ext cx="1417320" cy="210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Aptos"/>
              </a:rPr>
              <a:t>PostgreSQL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3794760"/>
            <a:ext cx="25603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Aptos"/>
              </a:rPr>
              <a:t>DELIVERY &amp; OPERATIONS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206240"/>
            <a:ext cx="169164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95528" y="4407408"/>
            <a:ext cx="14173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Aptos"/>
              </a:rPr>
              <a:t>GitHub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" y="4736592"/>
            <a:ext cx="1481328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Aptos"/>
              </a:rPr>
              <a:t>Source of truth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359152" y="4718304"/>
            <a:ext cx="347472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2743200" y="4206240"/>
            <a:ext cx="169164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880360" y="4407408"/>
            <a:ext cx="14173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Aptos"/>
              </a:rPr>
              <a:t>Actions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52928" y="4736592"/>
            <a:ext cx="1481328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Aptos"/>
              </a:rPr>
              <a:t>Tests + build + scan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443984" y="4718304"/>
            <a:ext cx="347472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4828032" y="4206240"/>
            <a:ext cx="169164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965192" y="4407408"/>
            <a:ext cx="14173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Aptos"/>
              </a:rPr>
              <a:t>GHCR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37760" y="4736592"/>
            <a:ext cx="1481328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Aptos"/>
              </a:rPr>
              <a:t>Approved images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528816" y="4718304"/>
            <a:ext cx="347472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6912864" y="4206240"/>
            <a:ext cx="169164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050024" y="4407408"/>
            <a:ext cx="14173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Aptos"/>
              </a:rPr>
              <a:t>ArgoCD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22592" y="4736592"/>
            <a:ext cx="1481328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Aptos"/>
              </a:rPr>
              <a:t>GitOps sync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8613648" y="4718304"/>
            <a:ext cx="347472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8997696" y="4206240"/>
            <a:ext cx="169164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134856" y="4407408"/>
            <a:ext cx="14173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Aptos"/>
              </a:rPr>
              <a:t>Kubernetes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07424" y="4736592"/>
            <a:ext cx="1481328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Aptos"/>
              </a:rPr>
              <a:t>Runs the services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9829800" y="5294376"/>
            <a:ext cx="0" cy="512064"/>
          </a:xfrm>
          <a:prstGeom prst="line">
            <a:avLst/>
          </a:prstGeom>
          <a:ln w="2540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8549640" y="5742432"/>
            <a:ext cx="2606040" cy="548640"/>
          </a:xfrm>
          <a:prstGeom prst="roundRect">
            <a:avLst/>
          </a:prstGeom>
          <a:solidFill>
            <a:srgbClr val="CCFBF1"/>
          </a:solidFill>
          <a:ln w="1016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668512" y="5879592"/>
            <a:ext cx="2340864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000" b="1" i="0">
                <a:solidFill>
                  <a:srgbClr val="0D9488"/>
                </a:solidFill>
                <a:latin typeface="Aptos"/>
              </a:rPr>
              <a:t>Prometheus + Grafana  |  operational visibility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85800" y="5687568"/>
            <a:ext cx="6995160" cy="749808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96112" y="5852160"/>
            <a:ext cx="658368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Aptos"/>
              </a:rPr>
              <a:t>Terraform created the AWS VPC + EKS environment used for cloud validation. After testing, those resources were destroyed to control cost.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256032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Aptos"/>
              </a:rPr>
              <a:t>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03504"/>
            <a:ext cx="1097280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Aptos Display"/>
              </a:rPr>
              <a:t>CI/CD and security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115568"/>
            <a:ext cx="1078992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Aptos"/>
              </a:rPr>
              <a:t>Every change is checked before an image is allowed into the registry.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402336"/>
            <a:ext cx="32004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9672"/>
            <a:ext cx="109728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  <a:latin typeface="Aptos"/>
              </a:rPr>
              <a:t>OpsFlow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82528" y="6519672"/>
            <a:ext cx="54864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83080"/>
            <a:ext cx="233172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13232" y="1783080"/>
            <a:ext cx="411480" cy="10972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" y="2148840"/>
            <a:ext cx="310896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1975104"/>
            <a:ext cx="14173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Aptos"/>
              </a:rPr>
              <a:t>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286000"/>
            <a:ext cx="1536192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Aptos"/>
              </a:rPr>
              <a:t>36 API tests + frontend build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72384" y="2331720"/>
            <a:ext cx="365760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474720" y="1783080"/>
            <a:ext cx="233172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474720" y="1783080"/>
            <a:ext cx="411480" cy="109728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11296" y="2148840"/>
            <a:ext cx="310896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87368" y="1975104"/>
            <a:ext cx="14173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Aptos"/>
              </a:rPr>
              <a:t>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87368" y="2286000"/>
            <a:ext cx="1536192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Aptos"/>
              </a:rPr>
              <a:t>Create backend + frontend images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833872" y="2331720"/>
            <a:ext cx="365759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236208" y="1783080"/>
            <a:ext cx="233172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6208" y="1783080"/>
            <a:ext cx="411480" cy="109728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72784" y="2148840"/>
            <a:ext cx="310896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48856" y="1975104"/>
            <a:ext cx="14173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Aptos"/>
              </a:rPr>
              <a:t>Scan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48856" y="2286000"/>
            <a:ext cx="1536192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Aptos"/>
              </a:rPr>
              <a:t>Block HIGH / CRITICAL findings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595360" y="2331720"/>
            <a:ext cx="365760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997696" y="1783080"/>
            <a:ext cx="233172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997696" y="1783080"/>
            <a:ext cx="411480" cy="109728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034272" y="2148840"/>
            <a:ext cx="310896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10344" y="1975104"/>
            <a:ext cx="14173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Aptos"/>
              </a:rPr>
              <a:t>Publish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10344" y="2286000"/>
            <a:ext cx="1536192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Aptos"/>
              </a:rPr>
              <a:t>Push SHA-tagged images to GHCR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78040" y="3333844"/>
            <a:ext cx="4251960" cy="5486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Aptos"/>
              </a:rPr>
              <a:t>Real security behavior: the pipeline stopped when the vulnerability gate failed.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8040" y="4187952"/>
            <a:ext cx="4160520" cy="1508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0D9488"/>
                </a:solidFill>
                <a:latin typeface="Aptos"/>
              </a:rPr>
              <a:t>• </a:t>
            </a:r>
            <a:r>
              <a:rPr sz="1200" b="1">
                <a:solidFill>
                  <a:srgbClr val="334155"/>
                </a:solidFill>
                <a:latin typeface="Aptos"/>
              </a:rPr>
              <a:t>Fail closed — </a:t>
            </a:r>
            <a:r>
              <a:rPr sz="1200">
                <a:solidFill>
                  <a:srgbClr val="334155"/>
                </a:solidFill>
                <a:latin typeface="Aptos"/>
              </a:rPr>
              <a:t>serious findings stop publication.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D9488"/>
                </a:solidFill>
                <a:latin typeface="Aptos"/>
              </a:rPr>
              <a:t>• </a:t>
            </a:r>
            <a:r>
              <a:rPr sz="1200" b="1">
                <a:solidFill>
                  <a:srgbClr val="334155"/>
                </a:solidFill>
                <a:latin typeface="Aptos"/>
              </a:rPr>
              <a:t>Fix, then rerun — </a:t>
            </a:r>
            <a:r>
              <a:rPr sz="1200">
                <a:solidFill>
                  <a:srgbClr val="334155"/>
                </a:solidFill>
                <a:latin typeface="Aptos"/>
              </a:rPr>
              <a:t>the dependency/base-image issue was remediated instead of bypassing the gate.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D9488"/>
                </a:solidFill>
                <a:latin typeface="Aptos"/>
              </a:rPr>
              <a:t>• </a:t>
            </a:r>
            <a:r>
              <a:rPr sz="1200" b="1">
                <a:solidFill>
                  <a:srgbClr val="334155"/>
                </a:solidFill>
                <a:latin typeface="Aptos"/>
              </a:rPr>
              <a:t>Traceable releases — </a:t>
            </a:r>
            <a:r>
              <a:rPr sz="1200">
                <a:solidFill>
                  <a:srgbClr val="334155"/>
                </a:solidFill>
                <a:latin typeface="Aptos"/>
              </a:rPr>
              <a:t>published images use the full Git commit SHA, not “latest”.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178040" y="5715000"/>
            <a:ext cx="3977639" cy="310896"/>
          </a:xfrm>
          <a:prstGeom prst="roundRect">
            <a:avLst/>
          </a:prstGeom>
          <a:solidFill>
            <a:srgbClr val="CCFBF1"/>
          </a:solidFill>
          <a:ln w="10160"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178040" y="5733288"/>
            <a:ext cx="3977639" cy="23774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0D9488"/>
                </a:solidFill>
                <a:latin typeface="Aptos"/>
              </a:rPr>
              <a:t>WHY THIS MATTERS: bad builds do not quietly move forward</a:t>
            </a:r>
          </a:p>
        </p:txBody>
      </p:sp>
      <p:pic>
        <p:nvPicPr>
          <p:cNvPr id="39" name="Picture 38" descr="TRIVY Critical Scan">
            <a:extLst>
              <a:ext uri="{FF2B5EF4-FFF2-40B4-BE49-F238E27FC236}">
                <a16:creationId xmlns:a16="http://schemas.microsoft.com/office/drawing/2014/main" id="{7DB3FA44-A7EF-DB04-7233-6BBCB70256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76" r="8325" b="30030"/>
          <a:stretch>
            <a:fillRect/>
          </a:stretch>
        </p:blipFill>
        <p:spPr>
          <a:xfrm>
            <a:off x="710570" y="3355794"/>
            <a:ext cx="6239636" cy="266806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256032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Aptos"/>
              </a:rPr>
              <a:t>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03504"/>
            <a:ext cx="1097280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Aptos Display"/>
              </a:rPr>
              <a:t>Infrastructure as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115568"/>
            <a:ext cx="1078992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Aptos"/>
              </a:rPr>
              <a:t>Cloud infrastructure was created from code, validated on AWS, and then removed after testing.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402336"/>
            <a:ext cx="32004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9672"/>
            <a:ext cx="109728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  <a:latin typeface="Aptos"/>
              </a:rPr>
              <a:t>OpsFlow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82528" y="6519672"/>
            <a:ext cx="54864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37360"/>
            <a:ext cx="324612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1737360"/>
            <a:ext cx="73152" cy="12344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6968" y="1901952"/>
            <a:ext cx="2926079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Aptos"/>
              </a:rPr>
              <a:t>Repeatable setup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221991"/>
            <a:ext cx="2926079" cy="6126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Aptos"/>
              </a:rPr>
              <a:t>Terraform defines the network and EKS cluster instead of relying on manual console clicks.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00400"/>
            <a:ext cx="324612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3200400"/>
            <a:ext cx="73152" cy="123444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6968" y="3364992"/>
            <a:ext cx="2926079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Aptos"/>
              </a:rPr>
              <a:t>Real AWS 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3685032"/>
            <a:ext cx="2926079" cy="6126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Aptos"/>
              </a:rPr>
              <a:t>A VPC, two public subnets, EKS and a managed worker node were provisioned in ap-south-1.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663440"/>
            <a:ext cx="324612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4663440"/>
            <a:ext cx="73152" cy="123444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6968" y="4828031"/>
            <a:ext cx="2926079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Aptos"/>
              </a:rPr>
              <a:t>Cost-aware cleanup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5148072"/>
            <a:ext cx="2926079" cy="6126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Aptos"/>
              </a:rPr>
              <a:t>The AWS environment was intentionally destroyed after validation to avoid ongoing charges.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1720237"/>
            <a:ext cx="7169479" cy="471737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0" y="1993392"/>
            <a:ext cx="20116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Aptos"/>
              </a:rPr>
              <a:t>Validation record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0" y="2542032"/>
            <a:ext cx="1828800" cy="960120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09160" y="2688336"/>
            <a:ext cx="155448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200" b="1" i="0">
                <a:solidFill>
                  <a:srgbClr val="2563EB"/>
                </a:solidFill>
                <a:latin typeface="Aptos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3063240"/>
            <a:ext cx="155448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  <a:latin typeface="Aptos"/>
              </a:rPr>
              <a:t>public subnets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75120" y="2542032"/>
            <a:ext cx="1828800" cy="960120"/>
          </a:xfrm>
          <a:prstGeom prst="roundRect">
            <a:avLst/>
          </a:prstGeom>
          <a:solidFill>
            <a:srgbClr val="CCFBF1"/>
          </a:solidFill>
          <a:ln w="10160"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12280" y="2688336"/>
            <a:ext cx="155448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200" b="1" i="0">
                <a:solidFill>
                  <a:srgbClr val="0D9488"/>
                </a:solidFill>
                <a:latin typeface="Aptos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3063240"/>
            <a:ext cx="155448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Aptos"/>
              </a:rPr>
              <a:t>EKS worker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778240" y="2542032"/>
            <a:ext cx="1828800" cy="960120"/>
          </a:xfrm>
          <a:prstGeom prst="roundRect">
            <a:avLst/>
          </a:prstGeom>
          <a:solidFill>
            <a:srgbClr val="FEF3C7"/>
          </a:solidFill>
          <a:ln w="1016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915400" y="2688336"/>
            <a:ext cx="155448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200" b="1" i="0">
                <a:solidFill>
                  <a:srgbClr val="D97706"/>
                </a:solidFill>
                <a:latin typeface="Aptos"/>
              </a:rPr>
              <a:t>1.36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15400" y="3063240"/>
            <a:ext cx="155448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Aptos"/>
              </a:rPr>
              <a:t>Kubernetes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3840480"/>
            <a:ext cx="32004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Aptos"/>
              </a:rPr>
              <a:t>What “Infrastructure as Code” means here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4251960"/>
            <a:ext cx="6217920" cy="1325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2563EB"/>
                </a:solidFill>
                <a:latin typeface="Aptos"/>
              </a:rPr>
              <a:t>• </a:t>
            </a:r>
            <a:r>
              <a:rPr sz="1200" b="1">
                <a:solidFill>
                  <a:srgbClr val="334155"/>
                </a:solidFill>
                <a:latin typeface="Aptos"/>
              </a:rPr>
              <a:t>Plan first — </a:t>
            </a:r>
            <a:r>
              <a:rPr sz="1200">
                <a:solidFill>
                  <a:srgbClr val="334155"/>
                </a:solidFill>
                <a:latin typeface="Aptos"/>
              </a:rPr>
              <a:t>review what will be created before applying.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2563EB"/>
                </a:solidFill>
                <a:latin typeface="Aptos"/>
              </a:rPr>
              <a:t>• </a:t>
            </a:r>
            <a:r>
              <a:rPr sz="1200" b="1">
                <a:solidFill>
                  <a:srgbClr val="334155"/>
                </a:solidFill>
                <a:latin typeface="Aptos"/>
              </a:rPr>
              <a:t>Same recipe — </a:t>
            </a:r>
            <a:r>
              <a:rPr sz="1200">
                <a:solidFill>
                  <a:srgbClr val="334155"/>
                </a:solidFill>
                <a:latin typeface="Aptos"/>
              </a:rPr>
              <a:t>network and cluster configuration live in versioned Terraform files.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2563EB"/>
                </a:solidFill>
                <a:latin typeface="Aptos"/>
              </a:rPr>
              <a:t>• </a:t>
            </a:r>
            <a:r>
              <a:rPr sz="1200" b="1">
                <a:solidFill>
                  <a:srgbClr val="334155"/>
                </a:solidFill>
                <a:latin typeface="Aptos"/>
              </a:rPr>
              <a:t>Clean exit — </a:t>
            </a:r>
            <a:r>
              <a:rPr sz="1200">
                <a:solidFill>
                  <a:srgbClr val="334155"/>
                </a:solidFill>
                <a:latin typeface="Aptos"/>
              </a:rPr>
              <a:t>destroy is part of the lifecycle, not an afterthought.</a:t>
            </a:r>
          </a:p>
        </p:txBody>
      </p:sp>
      <p:pic>
        <p:nvPicPr>
          <p:cNvPr id="35" name="Picture 34" descr="terraform_destro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9831" y="5085579"/>
            <a:ext cx="6827389" cy="133858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256032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Aptos"/>
              </a:rPr>
              <a:t>ORCHESTRATION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03504"/>
            <a:ext cx="1097280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Aptos Display"/>
              </a:rPr>
              <a:t>Kubernetes, Helm and GitOps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115568"/>
            <a:ext cx="1078992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Aptos"/>
              </a:rPr>
              <a:t>Kubernetes runs the services; Helm describes the deployment; ArgoCD keeps the cluster aligned with Git.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402336"/>
            <a:ext cx="32004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9672"/>
            <a:ext cx="109728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  <a:latin typeface="Aptos"/>
              </a:rPr>
              <a:t>OpsFlow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82528" y="6519672"/>
            <a:ext cx="54864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37360"/>
            <a:ext cx="329184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1737360"/>
            <a:ext cx="73152" cy="1143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6968" y="1901952"/>
            <a:ext cx="297180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Aptos"/>
              </a:rPr>
              <a:t>Kubernetes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221991"/>
            <a:ext cx="2971800" cy="52120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Aptos"/>
              </a:rPr>
              <a:t>Keeps application services running, restartable and reachable.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090672"/>
            <a:ext cx="329184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3090672"/>
            <a:ext cx="73152" cy="114300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6968" y="3255264"/>
            <a:ext cx="297180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Aptos"/>
              </a:rPr>
              <a:t>Helm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3575304"/>
            <a:ext cx="2971800" cy="52120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Aptos"/>
              </a:rPr>
              <a:t>Packages the deployment rules so the same application can be installed consistently.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443984"/>
            <a:ext cx="329184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4443984"/>
            <a:ext cx="73152" cy="114300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6968" y="4608576"/>
            <a:ext cx="297180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Aptos"/>
              </a:rPr>
              <a:t>ArgoCD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4928616"/>
            <a:ext cx="2971800" cy="52120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Aptos"/>
              </a:rPr>
              <a:t>Watches Git and reconciles the cluster toward the version stored in the repository.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1783080"/>
            <a:ext cx="22860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Aptos"/>
              </a:rPr>
              <a:t>Current GitOps flow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2331720"/>
            <a:ext cx="1417320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44568" y="2532888"/>
            <a:ext cx="1197864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Aptos"/>
              </a:rPr>
              <a:t>GitHub</a:t>
            </a:r>
            <a:br/>
            <a:r>
              <a:t>main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07992" y="3017520"/>
            <a:ext cx="1271016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900" b="1" i="0">
                <a:solidFill>
                  <a:srgbClr val="1E293B"/>
                </a:solidFill>
                <a:latin typeface="Aptos"/>
              </a:rPr>
              <a:t>Source of truth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879592" y="2907792"/>
            <a:ext cx="402336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355080" y="2331720"/>
            <a:ext cx="1417320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64808" y="2532888"/>
            <a:ext cx="1197864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Aptos"/>
              </a:rPr>
              <a:t>ArgoCD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8232" y="3017520"/>
            <a:ext cx="1271016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ptos"/>
              </a:rPr>
              <a:t>Synced + Healthy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99831" y="2907792"/>
            <a:ext cx="402337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275320" y="2331720"/>
            <a:ext cx="1417320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85048" y="2532888"/>
            <a:ext cx="1197864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Aptos"/>
              </a:rPr>
              <a:t>Helm chart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48472" y="3017520"/>
            <a:ext cx="1271016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900" b="1" i="0">
                <a:solidFill>
                  <a:srgbClr val="D97706"/>
                </a:solidFill>
                <a:latin typeface="Aptos"/>
              </a:rPr>
              <a:t>helm/opsflow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720072" y="2907792"/>
            <a:ext cx="265176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0058400" y="2331720"/>
            <a:ext cx="1417320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168128" y="2532888"/>
            <a:ext cx="1197864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Aptos"/>
              </a:rPr>
              <a:t>Minikube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31552" y="3017520"/>
            <a:ext cx="1271016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900" b="1" i="0">
                <a:solidFill>
                  <a:srgbClr val="2563EB"/>
                </a:solidFill>
                <a:latin typeface="Aptos"/>
              </a:rPr>
              <a:t>namespace: opsflow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434840" y="3977639"/>
            <a:ext cx="7040880" cy="1572768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681728" y="4224528"/>
            <a:ext cx="18288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Aptos"/>
              </a:rPr>
              <a:t>Verified state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81728" y="4608576"/>
            <a:ext cx="118872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Aptos"/>
              </a:rPr>
              <a:t>Application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24728" y="4608576"/>
            <a:ext cx="1874519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ptos"/>
              </a:rPr>
              <a:t>Synced / Healthy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27848" y="4608576"/>
            <a:ext cx="118872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Aptos"/>
              </a:rPr>
              <a:t>Replicas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70848" y="4608576"/>
            <a:ext cx="1874519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  <a:latin typeface="Aptos"/>
              </a:rPr>
              <a:t>2 backend + 2 frontend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81728" y="5084064"/>
            <a:ext cx="118872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Aptos"/>
              </a:rPr>
              <a:t>Database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24728" y="5084064"/>
            <a:ext cx="1874519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Aptos"/>
              </a:rPr>
              <a:t>PostgreSQL PVC preserved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27848" y="5084064"/>
            <a:ext cx="118872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Aptos"/>
              </a:rPr>
              <a:t>Ingress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70848" y="5084064"/>
            <a:ext cx="1874519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Aptos"/>
              </a:rPr>
              <a:t>opsflow.local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80560" y="5833872"/>
            <a:ext cx="681228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Aptos"/>
              </a:rPr>
              <a:t>Video-friendly GitOps demonstration: a tiny Git change can be pushed, then ArgoCD shows the new revision synchronized into the cluster.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256032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Aptos"/>
              </a:rPr>
              <a:t>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03504"/>
            <a:ext cx="1097280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Aptos Display"/>
              </a:rPr>
              <a:t>Observability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115568"/>
            <a:ext cx="1078992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Aptos"/>
              </a:rPr>
              <a:t>The system reports its own health so problems can be seen before users have to explain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402336"/>
            <a:ext cx="32004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9672"/>
            <a:ext cx="109728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  <a:latin typeface="Aptos"/>
              </a:rPr>
              <a:t>OpsFlow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82528" y="6519672"/>
            <a:ext cx="54864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301752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105156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6968" y="1920240"/>
            <a:ext cx="2697479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Aptos"/>
              </a:rPr>
              <a:t>Prometheus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240280"/>
            <a:ext cx="2697479" cy="42976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Aptos"/>
              </a:rPr>
              <a:t>Collects application metrics from both backend replicas every 15 seconds.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999232"/>
            <a:ext cx="301752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2999232"/>
            <a:ext cx="73152" cy="10515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6968" y="3163824"/>
            <a:ext cx="2697479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Aptos"/>
              </a:rPr>
              <a:t>Grafana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3483863"/>
            <a:ext cx="2697479" cy="42976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Aptos"/>
              </a:rPr>
              <a:t>Turns raw metrics into a dashboard for availability, traffic, latency and process behavior.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42816"/>
            <a:ext cx="301752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4242816"/>
            <a:ext cx="73152" cy="105156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6968" y="4407407"/>
            <a:ext cx="2697479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Aptos"/>
              </a:rPr>
              <a:t>Operational endpoints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4727448"/>
            <a:ext cx="2697479" cy="42976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Aptos"/>
              </a:rPr>
              <a:t>/health, /ready and /metrics provide machine-readable status checks.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623560"/>
            <a:ext cx="2560320" cy="310896"/>
          </a:xfrm>
          <a:prstGeom prst="roundRect">
            <a:avLst/>
          </a:prstGeom>
          <a:solidFill>
            <a:srgbClr val="DCFCE7"/>
          </a:solidFill>
          <a:ln w="1016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5641848"/>
            <a:ext cx="2560320" cy="23774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16A34A"/>
                </a:solidFill>
                <a:latin typeface="Aptos"/>
              </a:rPr>
              <a:t>2 backend targets observed as UP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69080" y="1487339"/>
            <a:ext cx="7342247" cy="4955574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15968" y="6032249"/>
            <a:ext cx="676656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Aptos"/>
              </a:rPr>
              <a:t>Example: both backend replicas return an “up = 1” signal.</a:t>
            </a:r>
          </a:p>
        </p:txBody>
      </p:sp>
      <p:pic>
        <p:nvPicPr>
          <p:cNvPr id="27" name="Picture 2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197335F-CD2C-4DF5-3770-3B7CDAA5D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7577" y="1727915"/>
            <a:ext cx="7340959" cy="41427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256032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Aptos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03504"/>
            <a:ext cx="1097280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Aptos Display"/>
              </a:rPr>
              <a:t>What was validated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115568"/>
            <a:ext cx="1078992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Aptos"/>
              </a:rPr>
              <a:t>The project was not only assembled — each layer was exercised and captured with evidence.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402336"/>
            <a:ext cx="32004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9672"/>
            <a:ext cx="109728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  <a:latin typeface="Aptos"/>
              </a:rPr>
              <a:t>OpsFlow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82528" y="6519672"/>
            <a:ext cx="54864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83080"/>
            <a:ext cx="3383280" cy="14813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13232" y="1783080"/>
            <a:ext cx="109728" cy="14813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9264" y="2039112"/>
            <a:ext cx="278892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200" b="1" i="0">
                <a:solidFill>
                  <a:srgbClr val="2563EB"/>
                </a:solidFill>
                <a:latin typeface="Aptos"/>
              </a:rPr>
              <a:t>36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2587752"/>
            <a:ext cx="278892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Aptos"/>
              </a:rPr>
              <a:t>API tests passed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43984" y="1783080"/>
            <a:ext cx="3383280" cy="14813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443984" y="1783080"/>
            <a:ext cx="109728" cy="1481328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00016" y="2039112"/>
            <a:ext cx="278892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200" b="1" i="0">
                <a:solidFill>
                  <a:srgbClr val="0D9488"/>
                </a:solidFill>
                <a:latin typeface="Aptos"/>
              </a:rPr>
              <a:t>2 + 2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0016" y="2587752"/>
            <a:ext cx="278892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Aptos"/>
              </a:rPr>
              <a:t>backend / frontend replicas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74736" y="1783080"/>
            <a:ext cx="3383280" cy="14813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74736" y="1783080"/>
            <a:ext cx="109728" cy="1481328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30767" y="2039112"/>
            <a:ext cx="278892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200" b="1" i="0">
                <a:solidFill>
                  <a:srgbClr val="DC2626"/>
                </a:solidFill>
                <a:latin typeface="Aptos"/>
              </a:rPr>
              <a:t>HIGH / CRITICAL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0767" y="2587752"/>
            <a:ext cx="278892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Aptos"/>
              </a:rPr>
              <a:t>security gate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3657600"/>
            <a:ext cx="3383280" cy="14813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13232" y="3657600"/>
            <a:ext cx="109728" cy="1481328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9264" y="3913632"/>
            <a:ext cx="278892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200" b="1" i="0">
                <a:solidFill>
                  <a:srgbClr val="16A34A"/>
                </a:solidFill>
                <a:latin typeface="Aptos"/>
              </a:rPr>
              <a:t>Synced + Healthy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" y="4462272"/>
            <a:ext cx="278892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Aptos"/>
              </a:rPr>
              <a:t>ArgoCD state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43984" y="3657600"/>
            <a:ext cx="3383280" cy="14813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443984" y="3657600"/>
            <a:ext cx="109728" cy="1481328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00016" y="3913632"/>
            <a:ext cx="278892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200" b="1" i="0">
                <a:solidFill>
                  <a:srgbClr val="D97706"/>
                </a:solidFill>
                <a:latin typeface="Aptos"/>
              </a:rPr>
              <a:t>AWS EKS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4462272"/>
            <a:ext cx="278892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Aptos"/>
              </a:rPr>
              <a:t>real cloud validation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74736" y="3657600"/>
            <a:ext cx="3383280" cy="14813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174736" y="3657600"/>
            <a:ext cx="109728" cy="1481328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30767" y="3913632"/>
            <a:ext cx="278892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200" b="1" i="0">
                <a:solidFill>
                  <a:srgbClr val="1E293B"/>
                </a:solidFill>
                <a:latin typeface="Aptos"/>
              </a:rPr>
              <a:t>Destroyed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30767" y="4462272"/>
            <a:ext cx="278892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Aptos"/>
              </a:rPr>
              <a:t>cloud cleanup completed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13232" y="5623560"/>
            <a:ext cx="10881360" cy="640080"/>
          </a:xfrm>
          <a:prstGeom prst="roundRect">
            <a:avLst/>
          </a:prstGeom>
          <a:solidFill>
            <a:srgbClr val="0F172A"/>
          </a:solidFill>
          <a:ln w="1016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14400" y="5806440"/>
            <a:ext cx="104698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Result: one repository now contains the application, delivery automation, infrastructure code, Kubernetes deployment, GitOps configuration, monitoring setup and grading evidence.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256032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Aptos"/>
              </a:rPr>
              <a:t>LEARNINGS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03504"/>
            <a:ext cx="1097280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Aptos Display"/>
              </a:rPr>
              <a:t>Key learnings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115568"/>
            <a:ext cx="1078992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Aptos"/>
              </a:rPr>
              <a:t>The strongest lessons are about making systems repeatable, observable and safe to change.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402336"/>
            <a:ext cx="32004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9672"/>
            <a:ext cx="109728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  <a:latin typeface="Aptos"/>
              </a:rPr>
              <a:t>OpsFlow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82528" y="6519672"/>
            <a:ext cx="54864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37360"/>
            <a:ext cx="384048" cy="384048"/>
          </a:xfrm>
          <a:prstGeom prst="round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1801368"/>
            <a:ext cx="384048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1719072"/>
            <a:ext cx="3017520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Aptos"/>
              </a:rPr>
              <a:t>Automate the boring checks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1709928"/>
            <a:ext cx="713232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Aptos"/>
              </a:rPr>
              <a:t>Tests and security scans are more reliable when every push follows the same path.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2587752"/>
            <a:ext cx="384048" cy="384048"/>
          </a:xfrm>
          <a:prstGeom prst="roundRect">
            <a:avLst/>
          </a:prstGeom>
          <a:solidFill>
            <a:srgbClr val="0D9488"/>
          </a:solidFill>
          <a:ln w="1016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2651760"/>
            <a:ext cx="384048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569464"/>
            <a:ext cx="3017520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Aptos"/>
              </a:rPr>
              <a:t>Git should explain the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2560320"/>
            <a:ext cx="713232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Aptos"/>
              </a:rPr>
              <a:t>Application, infrastructure, deployment and GitOps configuration are all reviewable as code.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3438144"/>
            <a:ext cx="384048" cy="384048"/>
          </a:xfrm>
          <a:prstGeom prst="roundRect">
            <a:avLst/>
          </a:prstGeom>
          <a:solidFill>
            <a:srgbClr val="D97706"/>
          </a:solidFill>
          <a:ln w="1016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9808" y="3502151"/>
            <a:ext cx="384048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3419856"/>
            <a:ext cx="3017520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Aptos"/>
              </a:rPr>
              <a:t>Health is part of the product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3410712"/>
            <a:ext cx="713232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Aptos"/>
              </a:rPr>
              <a:t>Readiness checks, metrics and dashboards make operations less dependent on guesswork.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4288536"/>
            <a:ext cx="384048" cy="384048"/>
          </a:xfrm>
          <a:prstGeom prst="roundRect">
            <a:avLst/>
          </a:prstGeom>
          <a:solidFill>
            <a:srgbClr val="DC2626"/>
          </a:solidFill>
          <a:ln w="1016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9808" y="4352544"/>
            <a:ext cx="384048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9888" y="4270248"/>
            <a:ext cx="3017520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Aptos"/>
              </a:rPr>
              <a:t>Cloud resources need a lifecycle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60520" y="4261103"/>
            <a:ext cx="713232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Aptos"/>
              </a:rPr>
              <a:t>Provisioning is only half the job; cleanup and cost control are part of engineering quality.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5138928"/>
            <a:ext cx="384048" cy="384048"/>
          </a:xfrm>
          <a:prstGeom prst="roundRect">
            <a:avLst/>
          </a:prstGeom>
          <a:solidFill>
            <a:srgbClr val="16A34A"/>
          </a:solidFill>
          <a:ln w="1016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9808" y="5202936"/>
            <a:ext cx="384048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5120640"/>
            <a:ext cx="3017520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Aptos"/>
              </a:rPr>
              <a:t>Keep the story understandable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20" y="5111496"/>
            <a:ext cx="713232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Aptos"/>
              </a:rPr>
              <a:t>A strong system can still be explained in simple terms: build, check, deploy, synchronize, observe.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9808" y="5989320"/>
            <a:ext cx="10789920" cy="438912"/>
          </a:xfrm>
          <a:prstGeom prst="roundRect">
            <a:avLst/>
          </a:prstGeom>
          <a:solidFill>
            <a:srgbClr val="CCFBF1"/>
          </a:solidFill>
          <a:ln w="10160"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8680" y="6099048"/>
            <a:ext cx="105156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0D9488"/>
                </a:solidFill>
                <a:latin typeface="Aptos"/>
              </a:rPr>
              <a:t>The goal is not more tools — it is a safer, clearer path from code to a running service.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256032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Aptos"/>
              </a:rPr>
              <a:t>DEMO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03504"/>
            <a:ext cx="1097280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Aptos Display"/>
              </a:rPr>
              <a:t>Live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115568"/>
            <a:ext cx="1078992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Aptos"/>
              </a:rPr>
              <a:t>The recording will now move from the slides to the real project, in the same order requested for submission.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402336"/>
            <a:ext cx="32004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9672"/>
            <a:ext cx="109728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  <a:latin typeface="Aptos"/>
              </a:rPr>
              <a:t>OpsFlow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82528" y="6519672"/>
            <a:ext cx="54864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737360"/>
            <a:ext cx="507492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1737360"/>
            <a:ext cx="457200" cy="86868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020824"/>
            <a:ext cx="32004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1874519"/>
            <a:ext cx="16459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Aptos"/>
              </a:rPr>
              <a:t>Codebase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1874519"/>
            <a:ext cx="2542032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Aptos"/>
              </a:rPr>
              <a:t>Show the repository structure and key files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737360"/>
            <a:ext cx="507492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1737360"/>
            <a:ext cx="457200" cy="8686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63640" y="2020824"/>
            <a:ext cx="32004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6288" y="1874519"/>
            <a:ext cx="16459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Aptos"/>
              </a:rPr>
              <a:t>CI/CD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1874519"/>
            <a:ext cx="2542032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Aptos"/>
              </a:rPr>
              <a:t>Trigger a push and follow GitHub Actions end-to-end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2834639"/>
            <a:ext cx="507492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31520" y="2834639"/>
            <a:ext cx="457200" cy="86868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3118103"/>
            <a:ext cx="32004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9888" y="2971799"/>
            <a:ext cx="16459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Aptos"/>
              </a:rPr>
              <a:t>Terraform + AWS proof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2971799"/>
            <a:ext cx="2542032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Aptos"/>
              </a:rPr>
              <a:t>Show the saved plan and captured VPC / EKS evidence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2834639"/>
            <a:ext cx="507492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17920" y="2834639"/>
            <a:ext cx="457200" cy="86868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63640" y="3118103"/>
            <a:ext cx="32004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76288" y="2971799"/>
            <a:ext cx="16459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Aptos"/>
              </a:rPr>
              <a:t>ArgoCD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2971799"/>
            <a:ext cx="2542032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Aptos"/>
              </a:rPr>
              <a:t>Show Synced / Healthy and the GitOps resource tree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3931920"/>
            <a:ext cx="507492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31520" y="3931920"/>
            <a:ext cx="457200" cy="86868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7240" y="4215383"/>
            <a:ext cx="32004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89888" y="4069080"/>
            <a:ext cx="16459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Aptos"/>
              </a:rPr>
              <a:t>Kubernetes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71800" y="4069080"/>
            <a:ext cx="2542032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Aptos"/>
              </a:rPr>
              <a:t>Show pods, services and ingress healthy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3931920"/>
            <a:ext cx="507492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217920" y="3931920"/>
            <a:ext cx="457200" cy="86868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63640" y="4215383"/>
            <a:ext cx="32004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76288" y="4069080"/>
            <a:ext cx="16459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Aptos"/>
              </a:rPr>
              <a:t>Prometheus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58200" y="4069080"/>
            <a:ext cx="2542032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Aptos"/>
              </a:rPr>
              <a:t>Show OpsFlow targets UP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474720" y="5029200"/>
            <a:ext cx="507492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3474720" y="5029200"/>
            <a:ext cx="457200" cy="8686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520439" y="5312664"/>
            <a:ext cx="32004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33087" y="5166360"/>
            <a:ext cx="16459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Aptos"/>
              </a:rPr>
              <a:t>Grafana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15000" y="5166360"/>
            <a:ext cx="2542032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Aptos"/>
              </a:rPr>
              <a:t>Show live application metrics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OpsFlow Presentation</dc:title>
  <dc:subject>OpsFlow project overview, architecture, delivery, infrastructure, GitOps and observability</dc:subject>
  <dc:creator>Lavanya Soni</dc:creator>
  <cp:keywords>OpsFlow, CI/CD, Terraform, Kubernetes, ArgoCD, Prometheus, Grafana</cp:keywords>
  <dc:description>generated using python-pptx</dc:description>
  <cp:lastModifiedBy>Steve Canny</cp:lastModifiedBy>
  <cp:revision>70</cp:revision>
  <dcterms:created xsi:type="dcterms:W3CDTF">2013-01-27T09:14:16Z</dcterms:created>
  <dcterms:modified xsi:type="dcterms:W3CDTF">2026-10-16T19:28:36Z</dcterms:modified>
  <cp:category/>
</cp:coreProperties>
</file>